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D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56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937760" cy="4937760"/>
          </a:xfrm>
          <a:prstGeom prst="ellipse">
            <a:avLst/>
          </a:prstGeom>
          <a:ln w="19050">
            <a:solidFill>
              <a:srgbClr val="148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365760"/>
            <a:ext cx="3474720" cy="3474720"/>
          </a:xfrm>
          <a:prstGeom prst="ellipse">
            <a:avLst/>
          </a:prstGeom>
          <a:ln w="19050">
            <a:solidFill>
              <a:srgbClr val="1ED7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806440"/>
            <a:ext cx="146304" cy="320040"/>
          </a:xfrm>
          <a:prstGeom prst="roundRect">
            <a:avLst>
              <a:gd name="adj" fmla="val 18750"/>
            </a:avLst>
          </a:prstGeom>
          <a:solidFill>
            <a:srgbClr val="1ED76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5532120"/>
            <a:ext cx="146304" cy="594360"/>
          </a:xfrm>
          <a:prstGeom prst="roundRect">
            <a:avLst>
              <a:gd name="adj" fmla="val 18750"/>
            </a:avLst>
          </a:prstGeom>
          <a:solidFill>
            <a:srgbClr val="148A3E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5715000"/>
            <a:ext cx="146304" cy="411480"/>
          </a:xfrm>
          <a:prstGeom prst="roundRect">
            <a:avLst>
              <a:gd name="adj" fmla="val 18750"/>
            </a:avLst>
          </a:prstGeom>
          <a:solidFill>
            <a:srgbClr val="1ED760"/>
          </a:solidFill>
          <a:ln/>
        </p:spPr>
      </p:sp>
      <p:sp>
        <p:nvSpPr>
          <p:cNvPr id="8" name="Shape 6"/>
          <p:cNvSpPr/>
          <p:nvPr/>
        </p:nvSpPr>
        <p:spPr>
          <a:xfrm>
            <a:off x="1591056" y="5349240"/>
            <a:ext cx="146304" cy="777240"/>
          </a:xfrm>
          <a:prstGeom prst="roundRect">
            <a:avLst>
              <a:gd name="adj" fmla="val 18750"/>
            </a:avLst>
          </a:prstGeom>
          <a:solidFill>
            <a:srgbClr val="148A3E"/>
          </a:solidFill>
          <a:ln/>
        </p:spPr>
      </p:sp>
      <p:sp>
        <p:nvSpPr>
          <p:cNvPr id="9" name="Shape 7"/>
          <p:cNvSpPr/>
          <p:nvPr/>
        </p:nvSpPr>
        <p:spPr>
          <a:xfrm>
            <a:off x="1847088" y="56235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1ED760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5852160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148A3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MINI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Playlist Manager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 Audio Engine paired with an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WinSock Web Server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1318565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148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17720"/>
            <a:ext cx="13185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•  WINSOCK2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42693" y="4617720"/>
            <a:ext cx="139446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148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2693" y="4617720"/>
            <a:ext cx="139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8321" y="4617720"/>
            <a:ext cx="139446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148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8321" y="4617720"/>
            <a:ext cx="139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VISUALIZER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3B35A-8D08-1863-46B4-64B2A3CC2AE8}"/>
              </a:ext>
            </a:extLst>
          </p:cNvPr>
          <p:cNvSpPr txBox="1"/>
          <p:nvPr/>
        </p:nvSpPr>
        <p:spPr>
          <a:xfrm>
            <a:off x="2359152" y="5091614"/>
            <a:ext cx="4211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ED760"/>
                </a:solidFill>
              </a:rPr>
              <a:t>Ria Mudhole        1262251691</a:t>
            </a:r>
          </a:p>
          <a:p>
            <a:r>
              <a:rPr lang="en-IN" dirty="0">
                <a:solidFill>
                  <a:srgbClr val="1ED760"/>
                </a:solidFill>
              </a:rPr>
              <a:t>Mansi Kumari       1262251426</a:t>
            </a:r>
          </a:p>
          <a:p>
            <a:r>
              <a:rPr lang="en-IN" dirty="0">
                <a:solidFill>
                  <a:srgbClr val="1ED760"/>
                </a:solidFill>
              </a:rPr>
              <a:t>Aditya Agarwal     1262251124</a:t>
            </a:r>
          </a:p>
          <a:p>
            <a:r>
              <a:rPr lang="en-IN" dirty="0">
                <a:solidFill>
                  <a:srgbClr val="1ED760"/>
                </a:solidFill>
              </a:rPr>
              <a:t>Dhani Jain             1262251217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A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low-level systems project that swaps high-level frameworks for a custom C engine. A Doubly Linked List manages the music library in raw memory, while a hand-built HTTP server exposes it as a REST-like JSON API — driving a modern, Spotify-style web dashboard with live pointer visualization and native MP3 streaming.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5760720" cy="1737360"/>
          </a:xfrm>
          <a:prstGeom prst="roundRect">
            <a:avLst>
              <a:gd name="adj" fmla="val 5263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708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FIRST PRINCIPLES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TCP sockets  →  hand-parsed HTTP  →  pointer-level list operations — no frameworks, no CLI prompts, just C and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2331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85432" y="176479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85432" y="246888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traverse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delete nodes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08592" y="1600200"/>
            <a:ext cx="2331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73184" y="176479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473184" y="246888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REST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3639312"/>
            <a:ext cx="2331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5432" y="3803904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85432" y="4507992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engines —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&amp; Merge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08592" y="3639312"/>
            <a:ext cx="2331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3803904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73184" y="4507992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pointer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01368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Memory Mgmt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Head-and-tail DLL with O(1) insert, traverse &amp; delete via malloc/free.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62272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01368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85232" y="1819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HTTP Server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WinSock2 TCP server that parses GET/POST and streams files &amp; audio.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84464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1801368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07424" y="1819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JSON API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85632" y="246888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functions serialize live list state into JSON for the frontend.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224528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 Pointer Visualizer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" y="489204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node addresses and prev/next linkages.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62272" y="40233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224528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85232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Search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63440" y="489204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 reordering by title or duration — Bubble Sort &amp; Merge Sort.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84464" y="40233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85632" y="4224528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31" name="Text 29"/>
          <p:cNvSpPr/>
          <p:nvPr/>
        </p:nvSpPr>
        <p:spPr>
          <a:xfrm>
            <a:off x="8485632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07424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Playback &amp; Persistence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85632" y="489204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audio streaming plus auto-sync to library.txt on disk.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Pointer Chain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48840" y="169164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 w="19050">
            <a:solidFill>
              <a:srgbClr val="148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1828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514600" y="22585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—  HTML5 audio player · pointer map UI · REST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324612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 w="19050">
            <a:solidFill>
              <a:srgbClr val="148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383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C TCP Server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14600" y="3813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web_server.c  —  WinSock2 · HTTP request parser · file / audio streamer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480060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4937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 List Engine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14600" y="53675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dll_engine.c  —  Node ⇄ Node ⇄ Node pointer manipulation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743200"/>
            <a:ext cx="0" cy="502920"/>
          </a:xfrm>
          <a:prstGeom prst="line">
            <a:avLst/>
          </a:prstGeom>
          <a:noFill/>
          <a:ln w="25400">
            <a:solidFill>
              <a:srgbClr val="1ED76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816352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148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816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(JSON)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4297680"/>
            <a:ext cx="0" cy="502920"/>
          </a:xfrm>
          <a:prstGeom prst="line">
            <a:avLst/>
          </a:prstGeom>
          <a:noFill/>
          <a:ln w="25400">
            <a:solidFill>
              <a:srgbClr val="1ED76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4370832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148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3708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pointer manipulation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Doubly Linked List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382012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820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77340" y="1965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148A3E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7734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54580" y="2057400"/>
            <a:ext cx="0" cy="1051560"/>
          </a:xfrm>
          <a:prstGeom prst="line">
            <a:avLst/>
          </a:prstGeom>
          <a:noFill/>
          <a:ln w="12700">
            <a:solidFill>
              <a:srgbClr val="E1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458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1820" y="2057400"/>
            <a:ext cx="0" cy="1051560"/>
          </a:xfrm>
          <a:prstGeom prst="line">
            <a:avLst/>
          </a:prstGeom>
          <a:noFill/>
          <a:ln w="12700">
            <a:solidFill>
              <a:srgbClr val="E1E3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182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7734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09060" y="2473452"/>
            <a:ext cx="685800" cy="0"/>
          </a:xfrm>
          <a:prstGeom prst="line">
            <a:avLst/>
          </a:prstGeom>
          <a:noFill/>
          <a:ln w="25400">
            <a:solidFill>
              <a:srgbClr val="148A3E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94860" y="1965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148A3E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486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72100" y="2057400"/>
            <a:ext cx="0" cy="1051560"/>
          </a:xfrm>
          <a:prstGeom prst="line">
            <a:avLst/>
          </a:prstGeom>
          <a:noFill/>
          <a:ln w="12700">
            <a:solidFill>
              <a:srgbClr val="E1E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210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9340" y="2057400"/>
            <a:ext cx="0" cy="1051560"/>
          </a:xfrm>
          <a:prstGeom prst="line">
            <a:avLst/>
          </a:prstGeom>
          <a:noFill/>
          <a:ln w="12700">
            <a:solidFill>
              <a:srgbClr val="E1E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934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486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26580" y="2473452"/>
            <a:ext cx="685800" cy="0"/>
          </a:xfrm>
          <a:prstGeom prst="line">
            <a:avLst/>
          </a:prstGeom>
          <a:noFill/>
          <a:ln w="25400">
            <a:solidFill>
              <a:srgbClr val="148A3E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12380" y="1965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148A3E"/>
            </a:solidFill>
            <a:prstDash val="solid"/>
          </a:ln>
          <a:effectLst>
            <a:outerShdw blurRad="76200" dist="25400" dir="5400000" algn="bl" rotWithShape="0">
              <a:srgbClr val="9A9C9A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1238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89620" y="2057400"/>
            <a:ext cx="0" cy="1051560"/>
          </a:xfrm>
          <a:prstGeom prst="line">
            <a:avLst/>
          </a:prstGeom>
          <a:noFill/>
          <a:ln w="12700">
            <a:solidFill>
              <a:srgbClr val="E1E3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962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6860" y="2057400"/>
            <a:ext cx="0" cy="1051560"/>
          </a:xfrm>
          <a:prstGeom prst="line">
            <a:avLst/>
          </a:prstGeom>
          <a:noFill/>
          <a:ln w="12700">
            <a:solidFill>
              <a:srgbClr val="E1E3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686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1238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944100" y="2583180"/>
            <a:ext cx="502920" cy="0"/>
          </a:xfrm>
          <a:prstGeom prst="line">
            <a:avLst/>
          </a:prstGeom>
          <a:noFill/>
          <a:ln w="25400">
            <a:solidFill>
              <a:srgbClr val="148A3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492740" y="2382012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0492740" y="23820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63040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8680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pairwise-swap ordering by title or track duration.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462272" y="37947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90872" y="4023360"/>
            <a:ext cx="457200" cy="45720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39" name="Text 37"/>
          <p:cNvSpPr/>
          <p:nvPr/>
        </p:nvSpPr>
        <p:spPr>
          <a:xfrm>
            <a:off x="469087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85232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690872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divide-and-conquer sort for larger playlists.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284464" y="37947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3E1"/>
            </a:solidFill>
            <a:prstDash val="solid"/>
          </a:ln>
          <a:effectLst>
            <a:outerShdw blurRad="76200" dist="25400" dir="5400000" algn="bl" rotWithShape="0">
              <a:srgbClr val="9A9C9A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13064" y="4023360"/>
            <a:ext cx="457200" cy="457200"/>
          </a:xfrm>
          <a:prstGeom prst="ellipse">
            <a:avLst/>
          </a:prstGeom>
          <a:solidFill>
            <a:srgbClr val="121212"/>
          </a:solidFill>
          <a:ln/>
        </p:spPr>
      </p:sp>
      <p:sp>
        <p:nvSpPr>
          <p:cNvPr id="44" name="Text 42"/>
          <p:cNvSpPr/>
          <p:nvPr/>
        </p:nvSpPr>
        <p:spPr>
          <a:xfrm>
            <a:off x="851306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107424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Search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513064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nodes to locate a track by title on demand.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731520"/>
            <a:ext cx="1091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Used Them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480000"/>
            <a:ext cx="533092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840080" y="1680000"/>
            <a:ext cx="460000" cy="46000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40080" y="168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440080" y="1670000"/>
            <a:ext cx="4330920" cy="28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Search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440080" y="1960000"/>
            <a:ext cx="433092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linearSearch()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40080" y="230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40080" y="2500000"/>
            <a:ext cx="493092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track by its title, or part of it, from the search box.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40080" y="296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40080" y="3160000"/>
            <a:ext cx="493092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playlist is not kept sorted, and linked-list nodes can only be reached in order. A head-to-tail scan works on any list with no preparation.</a:t>
            </a:r>
          </a:p>
        </p:txBody>
      </p:sp>
      <p:sp>
        <p:nvSpPr>
          <p:cNvPr id="13" name="Shape 13"/>
          <p:cNvSpPr/>
          <p:nvPr/>
        </p:nvSpPr>
        <p:spPr>
          <a:xfrm>
            <a:off x="6221000" y="1480000"/>
            <a:ext cx="533092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6421000" y="1680000"/>
            <a:ext cx="460000" cy="46000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421000" y="168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021000" y="1670000"/>
            <a:ext cx="4330920" cy="28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021000" y="1960000"/>
            <a:ext cx="433092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binarySearch()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421000" y="230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21000" y="2500000"/>
            <a:ext cx="493092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for fast title lookups once the playlist has been sorted.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21000" y="296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421000" y="3160000"/>
            <a:ext cx="493092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halves the search range each step, so sorted data needs far fewer comparisons. Routed to linearSearch() for now: linked lists have no direct middle access.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" y="3910000"/>
            <a:ext cx="533092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23" name="Shape 23"/>
          <p:cNvSpPr/>
          <p:nvPr/>
        </p:nvSpPr>
        <p:spPr>
          <a:xfrm>
            <a:off x="840080" y="4110000"/>
            <a:ext cx="460000" cy="46000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40080" y="411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440080" y="4100000"/>
            <a:ext cx="4330920" cy="28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440080" y="4390000"/>
            <a:ext cx="433092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bubbleSort()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40080" y="473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40080" y="4930000"/>
            <a:ext cx="493092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the playlist by title (A–Z) or by track duration.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40080" y="539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0080" y="5590000"/>
            <a:ext cx="493092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sorts in place with O(1) extra memory, and stops early if the list is already ordered. A good fit for small playlists and easy to show as pointer swaps.</a:t>
            </a:r>
          </a:p>
        </p:txBody>
      </p:sp>
      <p:sp>
        <p:nvSpPr>
          <p:cNvPr id="31" name="Shape 31"/>
          <p:cNvSpPr/>
          <p:nvPr/>
        </p:nvSpPr>
        <p:spPr>
          <a:xfrm>
            <a:off x="6221000" y="3910000"/>
            <a:ext cx="533092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32" name="Shape 32"/>
          <p:cNvSpPr/>
          <p:nvPr/>
        </p:nvSpPr>
        <p:spPr>
          <a:xfrm>
            <a:off x="6421000" y="4110000"/>
            <a:ext cx="460000" cy="46000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6421000" y="411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7021000" y="4100000"/>
            <a:ext cx="4330920" cy="28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021000" y="4390000"/>
            <a:ext cx="433092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mergeSort()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421000" y="473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421000" y="4930000"/>
            <a:ext cx="493092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larger playlists by title or duration.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421000" y="5390000"/>
            <a:ext cx="4930920" cy="1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421000" y="5590000"/>
            <a:ext cx="493092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and a natural match for linked lists, since it splits and relinks nodes without random access. For now it delegates to bubbleSort().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9A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14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731520"/>
            <a:ext cx="10911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Space Complexity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40080" y="1500000"/>
            <a:ext cx="215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2890080" y="150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990080" y="150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090080" y="150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190080" y="1500000"/>
            <a:ext cx="9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190080" y="1500000"/>
            <a:ext cx="43618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IMPLEMENTED</a:t>
            </a:r>
          </a:p>
        </p:txBody>
      </p:sp>
      <p:sp>
        <p:nvSpPr>
          <p:cNvPr id="10" name="Shape 10"/>
          <p:cNvSpPr/>
          <p:nvPr/>
        </p:nvSpPr>
        <p:spPr>
          <a:xfrm>
            <a:off x="640080" y="1850000"/>
            <a:ext cx="1091184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11" name="Text 11"/>
          <p:cNvSpPr txBox="1"/>
          <p:nvPr/>
        </p:nvSpPr>
        <p:spPr>
          <a:xfrm>
            <a:off x="840080" y="197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Search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40080" y="229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linearSearch()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890080" y="185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990080" y="185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090080" y="185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190080" y="1850000"/>
            <a:ext cx="9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190080" y="1850000"/>
            <a:ext cx="421184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head → tail. strstr() substring check adds O(m) per node, so O(n·m) in characters.</a:t>
            </a:r>
          </a:p>
        </p:txBody>
      </p:sp>
      <p:sp>
        <p:nvSpPr>
          <p:cNvPr id="18" name="Shape 18"/>
          <p:cNvSpPr/>
          <p:nvPr/>
        </p:nvSpPr>
        <p:spPr>
          <a:xfrm>
            <a:off x="640080" y="2760000"/>
            <a:ext cx="1091184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19" name="Text 19"/>
          <p:cNvSpPr txBox="1"/>
          <p:nvPr/>
        </p:nvSpPr>
        <p:spPr>
          <a:xfrm>
            <a:off x="840080" y="288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0080" y="320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binarySearch()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90080" y="276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990080" y="276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090080" y="276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190080" y="2760000"/>
            <a:ext cx="9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190080" y="2760000"/>
            <a:ext cx="421184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calls linearSearch(), so it is linear. A true binary search can’t reach O(log n) on a linked list.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3670000"/>
            <a:ext cx="1091184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27" name="Text 27"/>
          <p:cNvSpPr txBox="1"/>
          <p:nvPr/>
        </p:nvSpPr>
        <p:spPr>
          <a:xfrm>
            <a:off x="840080" y="379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40080" y="41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bubbleSort()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890080" y="367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3990080" y="367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090080" y="367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0080" y="3670000"/>
            <a:ext cx="9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190080" y="3670000"/>
            <a:ext cx="421184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flag exits early on sorted input. Swaps data with strcpy, not pointer relinking.</a:t>
            </a:r>
          </a:p>
        </p:txBody>
      </p:sp>
      <p:sp>
        <p:nvSpPr>
          <p:cNvPr id="34" name="Shape 34"/>
          <p:cNvSpPr/>
          <p:nvPr/>
        </p:nvSpPr>
        <p:spPr>
          <a:xfrm>
            <a:off x="640080" y="4580000"/>
            <a:ext cx="1091184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1"/>
            </a:solidFill>
          </a:ln>
          <a:effectLst>
            <a:outerShdw blurRad="76200" dist="25400" dir="5400000" algn="bl" rotWithShape="0">
              <a:srgbClr val="9A9C9A">
                <a:alpha val="22000"/>
              </a:srgbClr>
            </a:outerShdw>
          </a:effectLst>
        </p:spPr>
      </p:sp>
      <p:sp>
        <p:nvSpPr>
          <p:cNvPr id="35" name="Text 35"/>
          <p:cNvSpPr txBox="1"/>
          <p:nvPr/>
        </p:nvSpPr>
        <p:spPr>
          <a:xfrm>
            <a:off x="840080" y="470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40080" y="502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dirty="0">
                <a:solidFill>
                  <a:srgbClr val="6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mergeSort()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2890080" y="458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3990080" y="458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5090080" y="458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190080" y="4580000"/>
            <a:ext cx="90000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190080" y="4580000"/>
            <a:ext cx="4211840" cy="8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4A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just calls bubbleSort(). A real list merge sort would be O(n log n), O(log n) stack.</a:t>
            </a:r>
          </a:p>
        </p:txBody>
      </p:sp>
      <p:sp>
        <p:nvSpPr>
          <p:cNvPr id="42" name="Shape 42"/>
          <p:cNvSpPr/>
          <p:nvPr/>
        </p:nvSpPr>
        <p:spPr>
          <a:xfrm>
            <a:off x="640080" y="5520000"/>
            <a:ext cx="10911840" cy="5200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12700">
            <a:solidFill>
              <a:srgbClr val="12121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840080" y="5520000"/>
            <a:ext cx="10511840" cy="5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both “fast” algorithms are placeholders. Implementing true Merge Sort would cut sorting from O(n²) to O(n log n).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9A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PREVIEW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777240"/>
            <a:ext cx="5300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790000"/>
            <a:ext cx="420000" cy="420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48A3E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640080" y="179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300000" y="175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Playing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300000" y="2090000"/>
            <a:ext cx="43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audio player with Prev, Next and Delete wired to the list pointers.</a:t>
            </a:r>
          </a:p>
        </p:txBody>
      </p:sp>
      <p:sp>
        <p:nvSpPr>
          <p:cNvPr id="8" name="Shape 8"/>
          <p:cNvSpPr/>
          <p:nvPr/>
        </p:nvSpPr>
        <p:spPr>
          <a:xfrm>
            <a:off x="640080" y="2840000"/>
            <a:ext cx="420000" cy="420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48A3E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40080" y="284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300000" y="280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Queue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00000" y="3140000"/>
            <a:ext cx="43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 of title, artist and duration, with the current node highlighted.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" y="3890000"/>
            <a:ext cx="420000" cy="420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48A3E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" y="389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300000" y="385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 Controls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300000" y="4190000"/>
            <a:ext cx="43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name or duration, and add or upload a new song node.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" y="4940000"/>
            <a:ext cx="420000" cy="420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48A3E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40080" y="494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D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300000" y="490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 Map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300000" y="5240000"/>
            <a:ext cx="43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0" dirty="0">
                <a:solidFill>
                  <a:srgbClr val="C8C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Heap-allocated nodes drawn with their prev ⇄ next links, starting from NULL.</a:t>
            </a:r>
          </a:p>
        </p:txBody>
      </p:sp>
      <p:pic>
        <p:nvPicPr>
          <p:cNvPr id="20" name="App screenshot" descr="Screenshot of the Doubly Linked List Music Studio web dashboard showing the now-playing card, playlist queue, controls and pointer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43" y="679000"/>
            <a:ext cx="5323777" cy="5500000"/>
          </a:xfrm>
          <a:prstGeom prst="roundRect">
            <a:avLst>
              <a:gd name="adj" fmla="val 1500"/>
            </a:avLst>
          </a:prstGeom>
          <a:ln w="12700">
            <a:solidFill>
              <a:srgbClr val="148A3E"/>
            </a:solidFill>
          </a:ln>
        </p:spPr>
      </p:pic>
      <p:sp>
        <p:nvSpPr>
          <p:cNvPr id="21" name="Text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8A8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936</Words>
  <Application>Microsoft Office PowerPoint</Application>
  <PresentationFormat>Widescreen</PresentationFormat>
  <Paragraphs>176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riasm1909@outlook.com</cp:lastModifiedBy>
  <cp:revision>6</cp:revision>
  <dcterms:created xsi:type="dcterms:W3CDTF">2026-09-21T05:56:35Z</dcterms:created>
  <dcterms:modified xsi:type="dcterms:W3CDTF">2026-10-05T05:38:02Z</dcterms:modified>
</cp:coreProperties>
</file>